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One-line pitch: captures enquiries, auto-nudges leads, converts to bookings, emails guests at every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slide. Emphasize staff no longer create reminders manually; cadence default 1/3/7 days, escalating priority, auto-stops on booking.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0149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SRI NIRVANA PLAZA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Enquiry &amp; Follow-Up CRM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system that captures guest enquiries, nudges leads automatically,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them to bookings, and emails guests at every step.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5074920"/>
            <a:ext cx="1266444" cy="457200"/>
          </a:xfrm>
          <a:prstGeom prst="roundRect">
            <a:avLst>
              <a:gd name="adj" fmla="val 50000"/>
            </a:avLst>
          </a:prstGeom>
          <a:solidFill>
            <a:srgbClr val="2730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074920"/>
            <a:ext cx="12664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Enquiries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363724" y="5074920"/>
            <a:ext cx="1897380" cy="457200"/>
          </a:xfrm>
          <a:prstGeom prst="roundRect">
            <a:avLst>
              <a:gd name="adj" fmla="val 50000"/>
            </a:avLst>
          </a:prstGeom>
          <a:solidFill>
            <a:srgbClr val="2730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63724" y="5074920"/>
            <a:ext cx="1897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Follow-ups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89704" y="5074920"/>
            <a:ext cx="1161288" cy="457200"/>
          </a:xfrm>
          <a:prstGeom prst="roundRect">
            <a:avLst>
              <a:gd name="adj" fmla="val 50000"/>
            </a:avLst>
          </a:prstGeom>
          <a:solidFill>
            <a:srgbClr val="2730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89704" y="5074920"/>
            <a:ext cx="1161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879592" y="5074920"/>
            <a:ext cx="2002536" cy="457200"/>
          </a:xfrm>
          <a:prstGeom prst="roundRect">
            <a:avLst>
              <a:gd name="adj" fmla="val 50000"/>
            </a:avLst>
          </a:prstGeom>
          <a:solidFill>
            <a:srgbClr val="2730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79592" y="5074920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Automation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110728" y="5074920"/>
            <a:ext cx="1161288" cy="457200"/>
          </a:xfrm>
          <a:prstGeom prst="roundRect">
            <a:avLst>
              <a:gd name="adj" fmla="val 50000"/>
            </a:avLst>
          </a:prstGeom>
          <a:solidFill>
            <a:srgbClr val="2730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10728" y="5074920"/>
            <a:ext cx="1161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is used for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the front-desk sales pipeline end to end — so no enquiry is forgotten and every guest is kept informed.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76272"/>
            <a:ext cx="868680" cy="86868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977" y="2402129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1945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every enquiry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057400" y="2697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walk-in, call, WhatsApp, website &amp; OTA leads with budget, dates, room type and assigned staff.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20840" y="2176272"/>
            <a:ext cx="868680" cy="86868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697" y="2402129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18120" y="21945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miss a follow-up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818120" y="2697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reminders keep each lead moving. The system auto-schedules the next nudge until they book.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25196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599432"/>
            <a:ext cx="868680" cy="86868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977" y="4825289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57400" y="461772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to bookings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057400" y="5120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 enquiry into a confirmed booking in one click — room reserved, guest created, invoice priced.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0" y="4251960"/>
            <a:ext cx="53492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20840" y="4599432"/>
            <a:ext cx="868680" cy="86868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6697" y="4825289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818120" y="461772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&amp; feedback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818120" y="5120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confirmation and check-out emails, plus a star-rating feedback page after every stay.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JavaScript stack: a React single-page app talking to a REST API on Node, backed by PostgreSQL.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286000"/>
            <a:ext cx="5349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029968"/>
            <a:ext cx="512064" cy="512064"/>
          </a:xfrm>
          <a:prstGeom prst="ellipse">
            <a:avLst/>
          </a:prstGeom>
          <a:solidFill>
            <a:srgbClr val="27306B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257" y="216310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828800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2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5409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53312" y="29718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with React Router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621024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53312" y="353872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dev server &amp; build</a:t>
            </a:r>
            <a:endParaRPr lang="en-US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187952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53312" y="410565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</a:t>
            </a:r>
            <a:endParaRPr lang="en-US" sz="14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754880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53312" y="467258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charts</a:t>
            </a:r>
            <a:endParaRPr lang="en-US" sz="14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321808"/>
            <a:ext cx="237744" cy="2377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353312" y="523951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 + JWT auth</a:t>
            </a:r>
            <a:endParaRPr lang="en-US" sz="1450" dirty="0"/>
          </a:p>
        </p:txBody>
      </p:sp>
      <p:sp>
        <p:nvSpPr>
          <p:cNvPr id="20" name="Shape 12"/>
          <p:cNvSpPr/>
          <p:nvPr/>
        </p:nvSpPr>
        <p:spPr>
          <a:xfrm>
            <a:off x="6172200" y="182880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6172200" y="1828800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22" name="Shape 14"/>
          <p:cNvSpPr/>
          <p:nvPr/>
        </p:nvSpPr>
        <p:spPr>
          <a:xfrm>
            <a:off x="6172200" y="2286000"/>
            <a:ext cx="5349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Shape 15"/>
          <p:cNvSpPr/>
          <p:nvPr/>
        </p:nvSpPr>
        <p:spPr>
          <a:xfrm>
            <a:off x="6492240" y="2029968"/>
            <a:ext cx="512064" cy="512064"/>
          </a:xfrm>
          <a:prstGeom prst="ellipse">
            <a:avLst/>
          </a:prstGeom>
          <a:solidFill>
            <a:srgbClr val="27306B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5377" y="2163105"/>
            <a:ext cx="245791" cy="24579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32320" y="1828800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20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3054096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885432" y="29718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Express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4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3621024"/>
            <a:ext cx="237744" cy="237744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885432" y="353872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(pg)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 store</a:t>
            </a:r>
            <a:endParaRPr lang="en-US" sz="145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4187952"/>
            <a:ext cx="237744" cy="237744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885432" y="4105656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RBAC roles</a:t>
            </a:r>
            <a:endParaRPr lang="en-US" sz="145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4754880"/>
            <a:ext cx="237744" cy="237744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6885432" y="4672584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email delivery</a:t>
            </a:r>
            <a:endParaRPr lang="en-US" sz="1450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7960" y="5321808"/>
            <a:ext cx="237744" cy="237744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6885432" y="523951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node-cron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automation jobs</a:t>
            </a:r>
            <a:endParaRPr lang="en-US" sz="1450" dirty="0"/>
          </a:p>
        </p:txBody>
      </p:sp>
      <p:sp>
        <p:nvSpPr>
          <p:cNvPr id="36" name="Text 22"/>
          <p:cNvSpPr/>
          <p:nvPr/>
        </p:nvSpPr>
        <p:spPr>
          <a:xfrm>
            <a:off x="658368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 validation · Helmet &amp; rate-limiting · Jest + Supertest tests · Docker / docker-compose · PDFKit invoices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the guest journey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one screen in the app and one row in the database, with a full history timeline behind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5860" y="2468880"/>
            <a:ext cx="914400" cy="91440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604" y="27066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Enquiry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1520" y="384048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captured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source &amp; budget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181" y="3236976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68930" y="214884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394710" y="2468880"/>
            <a:ext cx="914400" cy="91440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454" y="2706624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86250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2868930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Follow-ups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2960370" y="384048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Auto-scheduled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nudges via email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0031" y="3236976"/>
            <a:ext cx="292608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97780" y="214884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623560" y="2468880"/>
            <a:ext cx="914400" cy="91440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304" y="2706624"/>
            <a:ext cx="438912" cy="4389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15100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5097780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5189220" y="384048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convert,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reserved</a:t>
            </a:r>
            <a:endParaRPr lang="en-US" sz="12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881" y="3236976"/>
            <a:ext cx="292608" cy="29260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26630" y="214884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852410" y="2468880"/>
            <a:ext cx="914400" cy="91440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0154" y="2706624"/>
            <a:ext cx="438912" cy="43891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743950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7326630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Check-in</a:t>
            </a:r>
            <a:endParaRPr lang="en-US" sz="1700" dirty="0"/>
          </a:p>
        </p:txBody>
      </p:sp>
      <p:sp>
        <p:nvSpPr>
          <p:cNvPr id="30" name="Text 21"/>
          <p:cNvSpPr/>
          <p:nvPr/>
        </p:nvSpPr>
        <p:spPr>
          <a:xfrm>
            <a:off x="7418070" y="384048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arrives,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marked occupied</a:t>
            </a:r>
            <a:endParaRPr lang="en-US" sz="12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7731" y="3236976"/>
            <a:ext cx="292608" cy="292608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555480" y="214884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10081260" y="2468880"/>
            <a:ext cx="914400" cy="91440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19004" y="2706624"/>
            <a:ext cx="438912" cy="43891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0972800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25"/>
          <p:cNvSpPr/>
          <p:nvPr/>
        </p:nvSpPr>
        <p:spPr>
          <a:xfrm>
            <a:off x="9555480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Check-out</a:t>
            </a:r>
            <a:endParaRPr lang="en-US" sz="1700" dirty="0"/>
          </a:p>
        </p:txBody>
      </p:sp>
      <p:sp>
        <p:nvSpPr>
          <p:cNvPr id="37" name="Text 26"/>
          <p:cNvSpPr/>
          <p:nvPr/>
        </p:nvSpPr>
        <p:spPr>
          <a:xfrm>
            <a:off x="9646920" y="384048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Thank-you +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email</a:t>
            </a:r>
            <a:endParaRPr lang="en-US" sz="1200" dirty="0"/>
          </a:p>
        </p:txBody>
      </p:sp>
      <p:sp>
        <p:nvSpPr>
          <p:cNvPr id="38" name="Text 27"/>
          <p:cNvSpPr/>
          <p:nvPr/>
        </p:nvSpPr>
        <p:spPr>
          <a:xfrm>
            <a:off x="658368" y="5029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scenes: 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logins (admin / manager / staff), a live dashboard, and a daily 9 AM cron job that drives the email automation.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D98A2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follow-up system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no longer create each reminder by hand. The moment an enquiry comes in, the system schedules a cadence of follow-ups and emails the guest on each one — automatically.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154680" cy="1417320"/>
          </a:xfrm>
          <a:prstGeom prst="roundRect">
            <a:avLst>
              <a:gd name="adj" fmla="val 6452"/>
            </a:avLst>
          </a:prstGeom>
          <a:solidFill>
            <a:srgbClr val="ECEC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157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2278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nudge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5387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low</a:t>
            </a:r>
            <a:endParaRPr lang="en-US" sz="11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8204" y="3095244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97680" y="2514600"/>
            <a:ext cx="3154680" cy="1417320"/>
          </a:xfrm>
          <a:prstGeom prst="roundRect">
            <a:avLst>
              <a:gd name="adj" fmla="val 6452"/>
            </a:avLst>
          </a:prstGeom>
          <a:solidFill>
            <a:srgbClr val="DDE3F7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27157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572000" y="32278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nudge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0" y="35387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medium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804" y="3095244"/>
            <a:ext cx="256032" cy="2560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955280" y="2514600"/>
            <a:ext cx="3154680" cy="141732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/>
        </p:spPr>
      </p:sp>
      <p:sp>
        <p:nvSpPr>
          <p:cNvPr id="17" name="Text 13"/>
          <p:cNvSpPr/>
          <p:nvPr/>
        </p:nvSpPr>
        <p:spPr>
          <a:xfrm>
            <a:off x="8229600" y="27157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7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8229600" y="32278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nudge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8229600" y="35387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40080" y="425196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36008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25880" y="439826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Escalating priority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1325880" y="4754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nudge is more urgent than the last — low → medium → high.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537960" y="425196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63600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23760" y="439826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Stops itself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7223760" y="4754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auto-cancels the instant the guest books or the lead is marked lost.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640080" y="557784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961888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25880" y="572414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Configurable cadence</a:t>
            </a:r>
            <a:endParaRPr lang="en-US" sz="1550" dirty="0"/>
          </a:p>
        </p:txBody>
      </p:sp>
      <p:sp>
        <p:nvSpPr>
          <p:cNvPr id="31" name="Text 24"/>
          <p:cNvSpPr/>
          <p:nvPr/>
        </p:nvSpPr>
        <p:spPr>
          <a:xfrm>
            <a:off x="1325880" y="60807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schedule any time with FOLLOWUP_CADENCE_DAYS (default 1, 3, 7).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6537960" y="557784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5961888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223760" y="572414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Emails on autopilot</a:t>
            </a:r>
            <a:endParaRPr lang="en-US" sz="1550" dirty="0"/>
          </a:p>
        </p:txBody>
      </p:sp>
      <p:sp>
        <p:nvSpPr>
          <p:cNvPr id="35" name="Text 27"/>
          <p:cNvSpPr/>
          <p:nvPr/>
        </p:nvSpPr>
        <p:spPr>
          <a:xfrm>
            <a:off x="7223760" y="60807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 AM job sweeps open leads, schedules what's due, and sends the messages.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on booking — instant confirmation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1746504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the moment a booking is created — whether direct or converted from an enquiry.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8368" y="2578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90779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formatted HTML email via Nodemailer + your Gmail App Password.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373989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40690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reference, room &amp; type, check-in / check-out, and total amount incl. taxes.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490118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by design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523036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email is on record or Gmail isn't configured, it logs and skips — the booking still succeeds.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37960" y="137160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7960" y="1371600"/>
            <a:ext cx="498348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51790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Sri Nirvana Plaza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0" y="1883664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Enquiry &amp; Follow-Up CRM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0" y="242316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booking is confirmed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Ravi, your booking is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We look forward to welcoming you.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35661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Reference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89720" y="356616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BKG-1234567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3877056"/>
            <a:ext cx="4343400" cy="0"/>
          </a:xfrm>
          <a:prstGeom prst="line">
            <a:avLst/>
          </a:prstGeom>
          <a:noFill/>
          <a:ln w="6350">
            <a:solidFill>
              <a:srgbClr val="E5E9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9502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89720" y="395020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· Deluxe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0" y="4261104"/>
            <a:ext cx="4343400" cy="0"/>
          </a:xfrm>
          <a:prstGeom prst="line">
            <a:avLst/>
          </a:prstGeom>
          <a:noFill/>
          <a:ln w="6350">
            <a:solidFill>
              <a:srgbClr val="E5E9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43342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89720" y="4334256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Jun 2026, 02:00 PM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0" y="4645152"/>
            <a:ext cx="4343400" cy="0"/>
          </a:xfrm>
          <a:prstGeom prst="line">
            <a:avLst/>
          </a:prstGeom>
          <a:noFill/>
          <a:ln w="6350">
            <a:solidFill>
              <a:srgbClr val="E5E9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471830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Check-out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89720" y="471830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Jun 2026, 02:00 PM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0" y="5029200"/>
            <a:ext cx="4343400" cy="0"/>
          </a:xfrm>
          <a:prstGeom prst="line">
            <a:avLst/>
          </a:prstGeom>
          <a:noFill/>
          <a:ln w="6350">
            <a:solidFill>
              <a:srgbClr val="E5E9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51023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(incl. taxes)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89720" y="510235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4,000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0" y="5413248"/>
            <a:ext cx="4343400" cy="0"/>
          </a:xfrm>
          <a:prstGeom prst="line">
            <a:avLst/>
          </a:prstGeom>
          <a:noFill/>
          <a:ln w="6350">
            <a:solidFill>
              <a:srgbClr val="E5E9F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on check-out — thank-you &amp; feedback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9834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498348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1790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Sri Nirvana Plaza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883664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stay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242316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Ravi, thank you for staying with us (Room 301). We hope you had a wonderful time! Your feedback helps us serve you better — it takes less than a minute: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388620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402336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388620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feedback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46177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/feedback/&lt;booking&gt; — no login needed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49047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0" y="142646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00800" y="1764792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automatically when a guest is checked out in the app.</a:t>
            </a:r>
            <a:endParaRPr lang="en-US" sz="13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54203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247802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button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400800" y="2816352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★ Share your feedback link opens a clean, login-free page.</a:t>
            </a:r>
            <a:endParaRPr lang="en-US" sz="13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59359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0800" y="352958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page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400800" y="3867912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picks a star rating and leaves a comment in under a minute.</a:t>
            </a:r>
            <a:endParaRPr lang="en-US" sz="13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4645152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00800" y="458114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Flows to dashboard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6400800" y="4919472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land in the Feedback module; duplicate submissions are blocked.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3840480" cy="384048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in three commands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27306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8379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Install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20370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install:all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77840" y="169164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backend + frontend dependencies.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27306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02666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Set up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339242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migrate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77840" y="288036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database schema (incl. the new auto-follow-up columns).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06908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27306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21538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Start everything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58114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77840" y="406908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the API and the React app together from the project root.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8680" y="5532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add your Gmail App Password to .env (GMAIL_APP_PASSWORD) to switch emails from log-only to live sending.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Enquiry &amp; Follow-Up CRM</dc:title>
  <dc:subject>PptxGenJS Presentation</dc:subject>
  <dc:creator>Sri Nirvana Plaza</dc:creator>
  <cp:lastModifiedBy>Sri Nirvana Plaza</cp:lastModifiedBy>
  <cp:revision>1</cp:revision>
  <dcterms:created xsi:type="dcterms:W3CDTF">2026-06-20T05:35:11Z</dcterms:created>
  <dcterms:modified xsi:type="dcterms:W3CDTF">2026-06-20T05:35:11Z</dcterms:modified>
</cp:coreProperties>
</file>