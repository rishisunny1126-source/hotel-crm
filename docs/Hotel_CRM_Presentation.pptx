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9E6A"/>
              </a:solidFill>
              <a:effectLst/>
            </c:spPr>
          </c:dPt>
          <c:dPt>
            <c:idx val="1"/>
            <c:bubble3D val="0"/>
            <c:spPr>
              <a:solidFill>
                <a:srgbClr val="3B6FE0"/>
              </a:solidFill>
              <a:effectLst/>
            </c:spPr>
          </c:dPt>
          <c:dPt>
            <c:idx val="2"/>
            <c:bubble3D val="0"/>
            <c:spPr>
              <a:solidFill>
                <a:srgbClr val="C7CED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Confirmed</c:v>
                </c:pt>
                <c:pt idx="1">
                  <c:v>In pipeline</c:v>
                </c:pt>
                <c:pt idx="2">
                  <c:v>Lost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</c:v>
                </c:pt>
                <c:pt idx="1">
                  <c:v>38</c:v>
                </c:pt>
                <c:pt idx="2">
                  <c:v>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A3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3108960" cy="3108960"/>
          </a:xfrm>
          <a:prstGeom prst="ellipse">
            <a:avLst/>
          </a:prstGeom>
          <a:solidFill>
            <a:srgbClr val="2A3A7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NIRVANA PLAZA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Enquiry &amp;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CRM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356616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guest enquiries into confirmed bookings — a production-grade hotel operations CRM.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4572000"/>
            <a:ext cx="3383280" cy="1097280"/>
          </a:xfrm>
          <a:prstGeom prst="roundRect">
            <a:avLst>
              <a:gd name="adj" fmla="val 8333"/>
            </a:avLst>
          </a:prstGeom>
          <a:solidFill>
            <a:srgbClr val="2A3A7A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4736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5029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01–30 June 2026 · 26 working days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4572000"/>
            <a:ext cx="3383280" cy="1097280"/>
          </a:xfrm>
          <a:prstGeom prst="roundRect">
            <a:avLst>
              <a:gd name="adj" fmla="val 8333"/>
            </a:avLst>
          </a:prstGeom>
          <a:solidFill>
            <a:srgbClr val="2A3A7A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4736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5029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students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2440" y="4572000"/>
            <a:ext cx="3383280" cy="1097280"/>
          </a:xfrm>
          <a:prstGeom prst="roundRect">
            <a:avLst>
              <a:gd name="adj" fmla="val 8333"/>
            </a:avLst>
          </a:prstGeom>
          <a:solidFill>
            <a:srgbClr val="2A3A7A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4736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5029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Node/Express · PostgreSQL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6126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Reference Implementation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THEY 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Enquiries are scattered — and revenue leaks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8928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channels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WhatsApp, walk-ins &amp; OTAs recorded in notebooks and chats.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828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28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18928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follow-ups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651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guests are never contacted again — lost bookings.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828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828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89720" y="18928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ownership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651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who owns an enquiry or what was promised.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160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160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91640" y="422452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track ops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4983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housekeeping, room service &amp; complaints slip through.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89120" y="3931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160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160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40680" y="422452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reporting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4983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cannot measure conversion, occupancy or revenue.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38160" y="3931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160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160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189720" y="422452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GST &amp; billing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4983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revenue and GST settlement done by hand.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Enquiry → Follow-up → Confirmed booking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enquiry logged from any channel with room, dates &amp; budget.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own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2651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saves it with source, status, owner &amp; timestamp.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2651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pipeline tracks New → Contacted → Interested → Confirmed.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4592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4937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/ AI generates personalized follow-up messages.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89120" y="3931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160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17720" y="4937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view status, priorities &amp; history on the dashboard.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38160" y="39319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160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14400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66760" y="4937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 &amp; confirmations for due follow-ups.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modules across the guest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7373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53312" y="1719072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RBAC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645920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8" name="Text 6"/>
          <p:cNvSpPr/>
          <p:nvPr/>
        </p:nvSpPr>
        <p:spPr>
          <a:xfrm>
            <a:off x="3593592" y="17373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42232" y="1719072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Analytics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7373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31152" y="1719072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Enquiry CRM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1645920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14" name="Text 12"/>
          <p:cNvSpPr/>
          <p:nvPr/>
        </p:nvSpPr>
        <p:spPr>
          <a:xfrm>
            <a:off x="9171432" y="17373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20072" y="1719072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Management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578608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267004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53312" y="2651760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History Timeline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29000" y="2578608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20" name="Text 18"/>
          <p:cNvSpPr/>
          <p:nvPr/>
        </p:nvSpPr>
        <p:spPr>
          <a:xfrm>
            <a:off x="3593592" y="267004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42232" y="2651760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Management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2578608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267004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31152" y="2651760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Conflicts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06840" y="2578608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26" name="Text 24"/>
          <p:cNvSpPr/>
          <p:nvPr/>
        </p:nvSpPr>
        <p:spPr>
          <a:xfrm>
            <a:off x="9171432" y="267004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20072" y="2651760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Management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511296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360273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53312" y="3584448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Check-in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429000" y="3511296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32" name="Text 30"/>
          <p:cNvSpPr/>
          <p:nvPr/>
        </p:nvSpPr>
        <p:spPr>
          <a:xfrm>
            <a:off x="3593592" y="360273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142232" y="3584448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Service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17920" y="3511296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35" name="Text 33"/>
          <p:cNvSpPr/>
          <p:nvPr/>
        </p:nvSpPr>
        <p:spPr>
          <a:xfrm>
            <a:off x="6382512" y="360273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31152" y="3584448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006840" y="3511296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38" name="Text 36"/>
          <p:cNvSpPr/>
          <p:nvPr/>
        </p:nvSpPr>
        <p:spPr>
          <a:xfrm>
            <a:off x="9171432" y="360273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720072" y="3584448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4443984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41" name="Text 39"/>
          <p:cNvSpPr/>
          <p:nvPr/>
        </p:nvSpPr>
        <p:spPr>
          <a:xfrm>
            <a:off x="804672" y="453542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353312" y="4517136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429000" y="4443984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44" name="Text 42"/>
          <p:cNvSpPr/>
          <p:nvPr/>
        </p:nvSpPr>
        <p:spPr>
          <a:xfrm>
            <a:off x="3593592" y="453542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4142232" y="4517136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Bookings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17920" y="4443984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47" name="Text 45"/>
          <p:cNvSpPr/>
          <p:nvPr/>
        </p:nvSpPr>
        <p:spPr>
          <a:xfrm>
            <a:off x="6382512" y="453542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931152" y="4517136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Bookings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9006840" y="4443984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50" name="Text 48"/>
          <p:cNvSpPr/>
          <p:nvPr/>
        </p:nvSpPr>
        <p:spPr>
          <a:xfrm>
            <a:off x="9171432" y="453542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9720072" y="4517136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Profiles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0080" y="5376672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53" name="Text 51"/>
          <p:cNvSpPr/>
          <p:nvPr/>
        </p:nvSpPr>
        <p:spPr>
          <a:xfrm>
            <a:off x="804672" y="546811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353312" y="5449824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Handover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429000" y="5376672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56" name="Text 54"/>
          <p:cNvSpPr/>
          <p:nvPr/>
        </p:nvSpPr>
        <p:spPr>
          <a:xfrm>
            <a:off x="3593592" y="546811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4142232" y="5449824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GST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217920" y="5376672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59" name="Text 57"/>
          <p:cNvSpPr/>
          <p:nvPr/>
        </p:nvSpPr>
        <p:spPr>
          <a:xfrm>
            <a:off x="6382512" y="546811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6931152" y="5449824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Pricing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9006840" y="5376672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2A3A7A"/>
          </a:solidFill>
          <a:ln/>
        </p:spPr>
      </p:sp>
      <p:sp>
        <p:nvSpPr>
          <p:cNvPr id="62" name="Text 60"/>
          <p:cNvSpPr/>
          <p:nvPr/>
        </p:nvSpPr>
        <p:spPr>
          <a:xfrm>
            <a:off x="9171432" y="546811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9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9720072" y="5449824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(CSV/PDF)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Three-tier, cloud-deployable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470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Tailwind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dashboards, role-aware UI, Axios client with JWT refresh.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448056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Vercel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96512" y="31089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6FE0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89120" y="173736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73736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8470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28346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JWT + RBAC, Joi validation, rate limiting, business logic.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448056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Render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845552" y="31089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6FE0"/>
                </a:solidFill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138160" y="173736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8160" y="173736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18470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28346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schema, enums, FK integrity, GiST anti-double-booking guard.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12480" y="448056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Neon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input → validate (source · status · owner · timestamp) → CRM workflow → dashboard → reminders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quality &amp; scalability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6583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029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React, Vite, TailwindCSS, Recharts, React Router, Axios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Node.js, Express, JWT auth, RBAC, Joi, Helmet, rate limiting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follow-up logic + optional AI prompts for messages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(Neon) — 3NF, enums, indexes, exclusion constraints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/ WhatsApp transport hooks · PDF &amp; CSV reports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80960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conversion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589520" y="2011680"/>
          <a:ext cx="40233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STANDS OUT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Engineered, not just assembled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A3A7A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031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DB-level GiST exclusion constraint blocks overlapping rooms.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47288" y="17830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A3A7A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84448" y="21031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30168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75888" y="37033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RBAC: admin, manager, front desk, housekeeping, accounts, corporate.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4496" y="17830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A3A7A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91656" y="21031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37376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SQL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83096" y="37033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Injection-safe queries, bcrypt hashing, Helmet, rate limiting.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61704" y="17830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A3A7A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98864" y="21031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CSV+PDF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244584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90304" y="37033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GST tax invoices generated on demand.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working days · 3 roles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47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36192" y="19659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36192" y="240487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Word/PDF — 14 sections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47288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48456" y="1947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648456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43400" y="19659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343400" y="240487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submission deck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55664" y="1947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55664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50608" y="19659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50608" y="240487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source + CI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61704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62872" y="1947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262872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957816" y="19659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957816" y="240487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of the live app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25880" y="34015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0" y="34015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flow, schema, auth &amp; enquiry CRM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1696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25880" y="4187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00400" y="41879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Follow-ups, rooms, bookings, availability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49560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956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25880" y="49743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0400" y="4974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modules, payments/GST, pricing, AI &amp; PDF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57424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5742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25880" y="5760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20040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deployment, docs, demo &amp; presentation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A3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645920"/>
            <a:ext cx="3840480" cy="3840480"/>
          </a:xfrm>
          <a:prstGeom prst="ellipse">
            <a:avLst/>
          </a:prstGeom>
          <a:solidFill>
            <a:srgbClr val="2A3A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945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6868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Enquiry &amp; Follow-Up CRM  ·  SRI NIRVANA PLAZA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3840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that turns enquiries into confirmed, conflict-free bookings.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Enquiry &amp; Follow-Up CRM</dc:title>
  <dc:subject>PptxGenJS Presentation</dc:subject>
  <dc:creator>SRI NIRVANA PLAZA — Internship Team</dc:creator>
  <cp:lastModifiedBy>SRI NIRVANA PLAZA — Internship Team</cp:lastModifiedBy>
  <cp:revision>1</cp:revision>
  <dcterms:created xsi:type="dcterms:W3CDTF">2026-06-16T10:04:08Z</dcterms:created>
  <dcterms:modified xsi:type="dcterms:W3CDTF">2026-06-16T10:04:08Z</dcterms:modified>
</cp:coreProperties>
</file>